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18"/>
  </p:notesMasterIdLst>
  <p:handoutMasterIdLst>
    <p:handoutMasterId r:id="rId19"/>
  </p:handoutMasterIdLst>
  <p:sldIdLst>
    <p:sldId id="256" r:id="rId5"/>
    <p:sldId id="323" r:id="rId6"/>
    <p:sldId id="322" r:id="rId7"/>
    <p:sldId id="324" r:id="rId8"/>
    <p:sldId id="325" r:id="rId9"/>
    <p:sldId id="328" r:id="rId10"/>
    <p:sldId id="321" r:id="rId11"/>
    <p:sldId id="326" r:id="rId12"/>
    <p:sldId id="320" r:id="rId13"/>
    <p:sldId id="319" r:id="rId14"/>
    <p:sldId id="294" r:id="rId15"/>
    <p:sldId id="266" r:id="rId16"/>
    <p:sldId id="31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25FC47-CF47-4DFE-83A1-E8DDF87CA630}">
          <p14:sldIdLst>
            <p14:sldId id="256"/>
            <p14:sldId id="323"/>
            <p14:sldId id="322"/>
            <p14:sldId id="324"/>
            <p14:sldId id="325"/>
            <p14:sldId id="328"/>
            <p14:sldId id="321"/>
            <p14:sldId id="326"/>
            <p14:sldId id="320"/>
            <p14:sldId id="319"/>
            <p14:sldId id="294"/>
            <p14:sldId id="266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howGuides="1">
      <p:cViewPr varScale="1">
        <p:scale>
          <a:sx n="65" d="100"/>
          <a:sy n="65" d="100"/>
        </p:scale>
        <p:origin x="738" y="66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t>8/11/2026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91" name="Google Shape;91;p1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3" name="Google Shape;93;p1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443913" y="439346"/>
            <a:ext cx="9050537" cy="207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Plan Presentation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Mohammad Tahir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Mirji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Acharya Institute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659413" y="2726384"/>
            <a:ext cx="7801458" cy="254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Title: NOSQL Databases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Code: BCD515C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Type: Professional Elective Course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5th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Year: 202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-2027(ODD)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Hours/ week : L-T-P 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:0:0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1255-4E0F-4EE6-B8A4-38941D6C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5039C36A-CE10-3437-265A-4AF8F17FCAC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D3689D9-D8B5-E465-D6FA-90A61AC81DD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1C7BF0-00C5-D332-76EF-8DF35A290B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82A03662-A33F-5DA1-9B7B-65DC6A3EDA68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CB9659C9-65CD-7D97-2D00-0A685F08643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FAABA633-A3EB-227B-617D-A48150487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83E3A0-58F1-E712-432C-EDAA6CD51323}"/>
              </a:ext>
            </a:extLst>
          </p:cNvPr>
          <p:cNvSpPr txBox="1"/>
          <p:nvPr/>
        </p:nvSpPr>
        <p:spPr>
          <a:xfrm>
            <a:off x="2555052" y="474343"/>
            <a:ext cx="8940948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Overview of the Course – Module-wise</a:t>
            </a:r>
          </a:p>
          <a:p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Module 1:</a:t>
            </a:r>
          </a:p>
          <a:p>
            <a:r>
              <a:rPr lang="en-US" dirty="0"/>
              <a:t>Evolution of NoSQL databases, aggregate-oriented data models, and NoSQL data modelling concepts, including graph, schema-less databases, and materialized views.</a:t>
            </a:r>
          </a:p>
          <a:p>
            <a:endParaRPr lang="en-US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Module 2:</a:t>
            </a:r>
            <a:b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</a:br>
            <a:r>
              <a:rPr lang="en-US" dirty="0"/>
              <a:t>Distribution models, consistency mechanisms, CAP theorem, and version stamps in distributed NoSQL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Module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MapReduce programming model, key-value databases, their features, scalability, applications, and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Module 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dirty="0"/>
              <a:t>Document databases, their features, scalability, query capabilities, suitable applications, and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Module 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Graph databases, their features, scalability, consistency, applications, and limitations</a:t>
            </a:r>
            <a:r>
              <a:rPr lang="en-IN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4A8451E2-1834-1FC9-7A54-50255322F99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933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AB98-077C-F6F3-CFF1-4FD53192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4FE79717-D046-B2EB-665F-224CF1FA574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CFAE38A-990F-B4BF-9DD6-DD4DF17918E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884A94-545E-DC22-AA72-251471954406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F10A4E81-41A7-03FD-AB31-500D3305F6E7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236DDD51-82DD-AED1-BE2C-DE3ED65533E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1C547E0A-1428-9DAB-81BE-7BA6A7189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7BE5749-8BF5-ADC6-0896-B668533E6D54}"/>
              </a:ext>
            </a:extLst>
          </p:cNvPr>
          <p:cNvSpPr txBox="1"/>
          <p:nvPr/>
        </p:nvSpPr>
        <p:spPr>
          <a:xfrm>
            <a:off x="2700785" y="476396"/>
            <a:ext cx="8449792" cy="268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Course Objectives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/>
              <a:t>• Understand the importance and need of NoSQL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/>
              <a:t>• Exposure to Map-reduce and Key-Value databases</a:t>
            </a:r>
          </a:p>
          <a:p>
            <a:pPr algn="l">
              <a:lnSpc>
                <a:spcPct val="150000"/>
              </a:lnSpc>
            </a:pPr>
            <a:r>
              <a:rPr lang="en-IN" sz="1800" b="0" i="0" u="none" strike="noStrike" baseline="0" dirty="0"/>
              <a:t>• Understand fundamentals of Document Databases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/>
              <a:t>• Identify different </a:t>
            </a:r>
            <a:r>
              <a:rPr lang="en-US" sz="1800" b="0" i="0" u="none" strike="noStrike" baseline="0" dirty="0" err="1"/>
              <a:t>usecases</a:t>
            </a:r>
            <a:r>
              <a:rPr lang="en-US" sz="1800" b="0" i="0" u="none" strike="noStrike" baseline="0" dirty="0"/>
              <a:t> where graph databases are advantageous</a:t>
            </a:r>
            <a:endParaRPr lang="en-US" b="1" dirty="0"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8450A7B8-9B5B-B3F2-2929-0295D13767C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529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2087-248A-AB97-87F6-71AB1A5A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09475A69-FAEB-9ED3-73B8-ABEE6690762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45C9D3B-A39A-5F3F-6E17-850BA821795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D35FEA3-FE78-D103-4B21-E0922ABD3369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3D9C6D00-E9F5-D043-102B-716E03A2259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9468EDDE-DD2A-30C0-3874-DFD4C69B1F2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32F84D62-D319-AEB1-1102-D084DFE9B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26B1F5C-BCB5-AC48-27FD-22874C4B0C24}"/>
              </a:ext>
            </a:extLst>
          </p:cNvPr>
          <p:cNvSpPr txBox="1"/>
          <p:nvPr/>
        </p:nvSpPr>
        <p:spPr>
          <a:xfrm>
            <a:off x="2906732" y="549000"/>
            <a:ext cx="610423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Course Outcomes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46C72A-18B5-A9B8-7FF2-6F5E98765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705445"/>
              </p:ext>
            </p:extLst>
          </p:nvPr>
        </p:nvGraphicFramePr>
        <p:xfrm>
          <a:off x="2629665" y="1309408"/>
          <a:ext cx="8506335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6335">
                  <a:extLst>
                    <a:ext uri="{9D8B030D-6E8A-4147-A177-3AD203B41FA5}">
                      <a16:colId xmlns:a16="http://schemas.microsoft.com/office/drawing/2014/main" val="3668375801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33672489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7405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CO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Course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42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CO1: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.1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Explain</a:t>
                      </a:r>
                      <a:r>
                        <a:rPr lang="en-US" dirty="0"/>
                        <a:t> the concepts, architecture, and data models of NoSQL databases.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5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CO2: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.2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Discuss</a:t>
                      </a:r>
                      <a:r>
                        <a:rPr lang="en-US" dirty="0"/>
                        <a:t> distribution models, consistency mechanisms, and the CAP theorem in NoSQL databases.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2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CO3: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.3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Implement</a:t>
                      </a:r>
                      <a:r>
                        <a:rPr lang="en-US" dirty="0"/>
                        <a:t> MapReduce programming and key-value databases for scalable data processing and storage.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581277"/>
                  </a:ext>
                </a:extLst>
              </a:tr>
              <a:tr h="316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CO4: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.4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Demonstrate</a:t>
                      </a:r>
                      <a:r>
                        <a:rPr lang="en-IN" dirty="0"/>
                        <a:t> </a:t>
                      </a:r>
                      <a:r>
                        <a:rPr lang="en-US" dirty="0"/>
                        <a:t>document database concepts and query mechanisms to suitable application scenarios.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317627"/>
                  </a:ext>
                </a:extLst>
              </a:tr>
              <a:tr h="316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CO5: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.5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Apply</a:t>
                      </a:r>
                      <a:r>
                        <a:rPr lang="en-US" dirty="0"/>
                        <a:t> graph database concepts and query techniques for connected data applications.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216882"/>
                  </a:ext>
                </a:extLst>
              </a:tr>
            </a:tbl>
          </a:graphicData>
        </a:graphic>
      </p:graphicFrame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0C45A71B-2D12-10CE-D570-4DF9AB691D9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775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FB67-A2A9-0109-7EC7-75C4C26E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9D484C5-4BBD-3ECD-6AFF-92DB06D4A57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7E6BA5F8-2D92-4936-78A3-282106C2D4F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B134091-8887-E268-7288-E9587565BC0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8C604049-832D-A8E3-5A4A-ECA62596FA3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998DD40C-C2F7-4B7C-451D-E37AD329329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3ED58AE2-7AAA-A6E8-EB40-D3AC6AEED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9BA47B7-B3A5-163E-D72E-29CFACA2910E}"/>
              </a:ext>
            </a:extLst>
          </p:cNvPr>
          <p:cNvSpPr txBox="1"/>
          <p:nvPr/>
        </p:nvSpPr>
        <p:spPr>
          <a:xfrm>
            <a:off x="2906732" y="549000"/>
            <a:ext cx="610423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a typeface="Segoe UI Symbol" panose="020B0502040204020203" pitchFamily="34" charset="0"/>
                <a:cs typeface="Times New Roman" panose="02020603050405020304" pitchFamily="18" charset="0"/>
              </a:rPr>
              <a:t>Course Outcomes: Sample Questions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42D2BE-A4BE-4FC2-0737-3DE6BB1F6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97753"/>
              </p:ext>
            </p:extLst>
          </p:nvPr>
        </p:nvGraphicFramePr>
        <p:xfrm>
          <a:off x="2906732" y="1309408"/>
          <a:ext cx="8127999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2942">
                  <a:extLst>
                    <a:ext uri="{9D8B030D-6E8A-4147-A177-3AD203B41FA5}">
                      <a16:colId xmlns:a16="http://schemas.microsoft.com/office/drawing/2014/main" val="3668375801"/>
                    </a:ext>
                  </a:extLst>
                </a:gridCol>
                <a:gridCol w="5456326">
                  <a:extLst>
                    <a:ext uri="{9D8B030D-6E8A-4147-A177-3AD203B41FA5}">
                      <a16:colId xmlns:a16="http://schemas.microsoft.com/office/drawing/2014/main" val="3367248946"/>
                    </a:ext>
                  </a:extLst>
                </a:gridCol>
                <a:gridCol w="978731">
                  <a:extLst>
                    <a:ext uri="{9D8B030D-6E8A-4147-A177-3AD203B41FA5}">
                      <a16:colId xmlns:a16="http://schemas.microsoft.com/office/drawing/2014/main" val="517405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CO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Sample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42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CO1:</a:t>
                      </a:r>
                      <a:r>
                        <a:rPr lang="en-IN" sz="1800" b="0" kern="120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.1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Explain the concepts, architecture, and data models of NoSQL databases.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5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CO2:</a:t>
                      </a:r>
                      <a:r>
                        <a:rPr lang="en-IN" sz="1800" b="0" kern="120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.2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Discuss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 distribution models, consistency mechanisms, and the CAP theorem in NoSQL databases.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2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CO3:</a:t>
                      </a:r>
                      <a:r>
                        <a:rPr lang="en-IN" sz="1800" b="0" kern="120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.3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Implement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 MapReduce programming and key-value databases for scalable data processing and storage.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581277"/>
                  </a:ext>
                </a:extLst>
              </a:tr>
              <a:tr h="316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CO4:</a:t>
                      </a:r>
                      <a:r>
                        <a:rPr lang="en-IN" sz="1800" b="0" kern="120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.4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Demonstrate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 document database concepts and query mechanisms to suitable application scenarios.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31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CO5: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BCS755A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.5</a:t>
                      </a:r>
                      <a:endParaRPr lang="en-IN" sz="1800" b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Segoe UI Symbol" panose="020B0502040204020203" pitchFamily="34" charset="0"/>
                          <a:cs typeface="Times New Roman" panose="02020603050405020304" pitchFamily="18" charset="0"/>
                        </a:rPr>
                        <a:t>Apply graph database concepts and query techniques for connected data applications.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216882"/>
                  </a:ext>
                </a:extLst>
              </a:tr>
            </a:tbl>
          </a:graphicData>
        </a:graphic>
      </p:graphicFrame>
      <p:sp>
        <p:nvSpPr>
          <p:cNvPr id="4" name="Google Shape;94;p1">
            <a:extLst>
              <a:ext uri="{FF2B5EF4-FFF2-40B4-BE49-F238E27FC236}">
                <a16:creationId xmlns:a16="http://schemas.microsoft.com/office/drawing/2014/main" id="{5B1A1B68-EF9A-8CD2-38C2-6DF9251B501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088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8C18-1C34-DD63-87A0-A474980A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BB0E859-D860-E441-DC0E-4797CBA79DDF}"/>
              </a:ext>
            </a:extLst>
          </p:cNvPr>
          <p:cNvSpPr/>
          <p:nvPr/>
        </p:nvSpPr>
        <p:spPr>
          <a:xfrm flipH="1">
            <a:off x="-24000" y="-2"/>
            <a:ext cx="235585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DC103046-126A-9B2A-021C-91B3B4A921E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D2E158-620A-1990-F4DF-EC896D35E2B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0821A4FE-648D-5DC4-81E9-72E55DA655A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191DFA66-AFAD-95D3-2BA8-6182F5B7F55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93FDEDDF-4524-4D00-8C96-56657FE40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104BBA9-3346-391A-4F16-721F49466A76}"/>
              </a:ext>
            </a:extLst>
          </p:cNvPr>
          <p:cNvSpPr/>
          <p:nvPr/>
        </p:nvSpPr>
        <p:spPr>
          <a:xfrm>
            <a:off x="2632856" y="111678"/>
            <a:ext cx="8675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Student Centric Approaches and ICT Integration(Module Wise)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B31EF-CBCC-66A4-96B7-FD2E1F8E9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191609"/>
              </p:ext>
            </p:extLst>
          </p:nvPr>
        </p:nvGraphicFramePr>
        <p:xfrm>
          <a:off x="2629665" y="909000"/>
          <a:ext cx="8146335" cy="55634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9267">
                  <a:extLst>
                    <a:ext uri="{9D8B030D-6E8A-4147-A177-3AD203B41FA5}">
                      <a16:colId xmlns:a16="http://schemas.microsoft.com/office/drawing/2014/main" val="2944600295"/>
                    </a:ext>
                  </a:extLst>
                </a:gridCol>
                <a:gridCol w="1629267">
                  <a:extLst>
                    <a:ext uri="{9D8B030D-6E8A-4147-A177-3AD203B41FA5}">
                      <a16:colId xmlns:a16="http://schemas.microsoft.com/office/drawing/2014/main" val="2014044330"/>
                    </a:ext>
                  </a:extLst>
                </a:gridCol>
                <a:gridCol w="1629267">
                  <a:extLst>
                    <a:ext uri="{9D8B030D-6E8A-4147-A177-3AD203B41FA5}">
                      <a16:colId xmlns:a16="http://schemas.microsoft.com/office/drawing/2014/main" val="490565916"/>
                    </a:ext>
                  </a:extLst>
                </a:gridCol>
                <a:gridCol w="1629267">
                  <a:extLst>
                    <a:ext uri="{9D8B030D-6E8A-4147-A177-3AD203B41FA5}">
                      <a16:colId xmlns:a16="http://schemas.microsoft.com/office/drawing/2014/main" val="686970400"/>
                    </a:ext>
                  </a:extLst>
                </a:gridCol>
                <a:gridCol w="1629267">
                  <a:extLst>
                    <a:ext uri="{9D8B030D-6E8A-4147-A177-3AD203B41FA5}">
                      <a16:colId xmlns:a16="http://schemas.microsoft.com/office/drawing/2014/main" val="729846023"/>
                    </a:ext>
                  </a:extLst>
                </a:gridCol>
              </a:tblGrid>
              <a:tr h="438899">
                <a:tc>
                  <a:txBody>
                    <a:bodyPr/>
                    <a:lstStyle/>
                    <a:p>
                      <a:r>
                        <a:rPr lang="en-IN" sz="1400" b="1" dirty="0"/>
                        <a:t>Module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Participative Learning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Experiential Learning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Problem Solving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ICT Usage (Students Use Laptop)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86395688"/>
                  </a:ext>
                </a:extLst>
              </a:tr>
              <a:tr h="1003198">
                <a:tc>
                  <a:txBody>
                    <a:bodyPr/>
                    <a:lstStyle/>
                    <a:p>
                      <a:r>
                        <a:rPr lang="en-IN" sz="1100" b="1"/>
                        <a:t>Module 1</a:t>
                      </a:r>
                      <a:endParaRPr lang="en-IN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15%</a:t>
                      </a:r>
                      <a:r>
                        <a:rPr lang="en-US" sz="1200" dirty="0"/>
                        <a:t> – Group discussion on SQL vs NoSQL and real-world applications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10%</a:t>
                      </a:r>
                      <a:r>
                        <a:rPr lang="en-US" sz="1200" dirty="0"/>
                        <a:t> – Explore MongoDB Atlas and compare SQL &amp; NoSQL databases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05%</a:t>
                      </a:r>
                      <a:r>
                        <a:rPr lang="en-IN" sz="1200" dirty="0"/>
                        <a:t> – Identify suitable databases for given scenarios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 MongoDB Atlas/online simulators to explore data models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812814554"/>
                  </a:ext>
                </a:extLst>
              </a:tr>
              <a:tr h="815099">
                <a:tc>
                  <a:txBody>
                    <a:bodyPr/>
                    <a:lstStyle/>
                    <a:p>
                      <a:r>
                        <a:rPr lang="en-IN" sz="1100" b="1"/>
                        <a:t>Module 2</a:t>
                      </a:r>
                      <a:endParaRPr lang="en-IN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15%</a:t>
                      </a:r>
                      <a:r>
                        <a:rPr lang="en-US" sz="1200" dirty="0"/>
                        <a:t> – Group discussion on CAP theorem and consistency models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10%</a:t>
                      </a:r>
                      <a:r>
                        <a:rPr lang="en-US" sz="1200" dirty="0"/>
                        <a:t> – Demonstrate replication and sharding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05%</a:t>
                      </a:r>
                      <a:r>
                        <a:rPr lang="en-US" sz="1200" dirty="0"/>
                        <a:t> – Solve case studies on distributed databases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 MongoDB Atlas to visualize replication and sharding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122500079"/>
                  </a:ext>
                </a:extLst>
              </a:tr>
              <a:tr h="815099">
                <a:tc>
                  <a:txBody>
                    <a:bodyPr/>
                    <a:lstStyle/>
                    <a:p>
                      <a:r>
                        <a:rPr lang="en-IN" sz="1100" b="1"/>
                        <a:t>Module 3</a:t>
                      </a:r>
                      <a:endParaRPr lang="en-IN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15%</a:t>
                      </a:r>
                      <a:r>
                        <a:rPr lang="en-US" sz="1200" dirty="0"/>
                        <a:t> – Team discussion on MapReduce workflow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30%</a:t>
                      </a:r>
                      <a:r>
                        <a:rPr lang="en-US" sz="1200" dirty="0"/>
                        <a:t> – Execute sample MapReduce and Redis examples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30%</a:t>
                      </a:r>
                      <a:r>
                        <a:rPr lang="en-IN" sz="1200" dirty="0"/>
                        <a:t> – Solve large-scale data processing problems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 Redis/MapReduce examples using laptops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009770492"/>
                  </a:ext>
                </a:extLst>
              </a:tr>
              <a:tr h="815099">
                <a:tc>
                  <a:txBody>
                    <a:bodyPr/>
                    <a:lstStyle/>
                    <a:p>
                      <a:r>
                        <a:rPr lang="en-IN" sz="1100" b="1"/>
                        <a:t>Module 4</a:t>
                      </a:r>
                      <a:endParaRPr lang="en-IN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15%</a:t>
                      </a:r>
                      <a:r>
                        <a:rPr lang="en-IN" sz="1200" dirty="0"/>
                        <a:t> – Peer discussion on document schema design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35%</a:t>
                      </a:r>
                      <a:r>
                        <a:rPr lang="en-US" sz="1200" dirty="0"/>
                        <a:t> – Perform CRUD, indexing, and aggregation in MongoDB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fr-FR" sz="1200" b="1" dirty="0"/>
                        <a:t>25%</a:t>
                      </a:r>
                      <a:r>
                        <a:rPr lang="fr-FR" sz="1200" dirty="0"/>
                        <a:t> – </a:t>
                      </a:r>
                      <a:r>
                        <a:rPr lang="fr-FR" sz="1200" dirty="0" err="1"/>
                        <a:t>Optimize</a:t>
                      </a:r>
                      <a:r>
                        <a:rPr lang="fr-FR" sz="1200" dirty="0"/>
                        <a:t> document </a:t>
                      </a:r>
                      <a:r>
                        <a:rPr lang="fr-FR" sz="1200" dirty="0" err="1"/>
                        <a:t>models</a:t>
                      </a:r>
                      <a:r>
                        <a:rPr lang="fr-FR" sz="1200" dirty="0"/>
                        <a:t> for applications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 MongoDB Compass/Atlas for implementation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40747304"/>
                  </a:ext>
                </a:extLst>
              </a:tr>
              <a:tr h="815099">
                <a:tc>
                  <a:txBody>
                    <a:bodyPr/>
                    <a:lstStyle/>
                    <a:p>
                      <a:r>
                        <a:rPr lang="en-IN" sz="1100" b="1"/>
                        <a:t>Module 5</a:t>
                      </a:r>
                      <a:endParaRPr lang="en-IN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20%</a:t>
                      </a:r>
                      <a:r>
                        <a:rPr lang="en-IN" sz="1200" dirty="0"/>
                        <a:t> – Team presentation on graph database applications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30%</a:t>
                      </a:r>
                      <a:r>
                        <a:rPr lang="en-US" sz="1200" dirty="0"/>
                        <a:t> – Build graph models using Neo4j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25%</a:t>
                      </a:r>
                      <a:r>
                        <a:rPr lang="en-US" sz="1200" dirty="0"/>
                        <a:t> – Solve recommendation and network analysis problems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Execute Cypher queries using Neo4j Desktop/Aura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742868379"/>
                  </a:ext>
                </a:extLst>
              </a:tr>
              <a:tr h="815099">
                <a:tc gridSpan="2">
                  <a:txBody>
                    <a:bodyPr/>
                    <a:lstStyle/>
                    <a:p>
                      <a:r>
                        <a:rPr lang="en-IN" sz="1200" b="1" dirty="0"/>
                        <a:t>Augmented Syllabus</a:t>
                      </a:r>
                    </a:p>
                  </a:txBody>
                  <a:tcPr marL="63063" marR="63063" marT="31531" marB="31531" anchor="ctr"/>
                </a:tc>
                <a:tc h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63063" marR="63063" marT="31531" marB="31531" anchor="ctr"/>
                </a:tc>
                <a:tc gridSpan="3">
                  <a:txBody>
                    <a:bodyPr/>
                    <a:lstStyle/>
                    <a:p>
                      <a:r>
                        <a:rPr lang="en-IN" sz="1200" dirty="0"/>
                        <a:t>E-Commerce Platform (Amazon/Flipkart-style) — Polyglot Persistence Design(</a:t>
                      </a:r>
                      <a:r>
                        <a:rPr lang="en-US" sz="1200" dirty="0"/>
                        <a:t>Students use generative AI to scaffold the schema/queries for each store, then justify </a:t>
                      </a:r>
                      <a:r>
                        <a:rPr lang="en-US" sz="1200" i="1" dirty="0"/>
                        <a:t>why</a:t>
                      </a:r>
                      <a:r>
                        <a:rPr lang="en-US" sz="1200" dirty="0"/>
                        <a:t> each NoSQL type was chosen for that sub-problem)</a:t>
                      </a:r>
                    </a:p>
                  </a:txBody>
                  <a:tcPr marL="63063" marR="63063" marT="31531" marB="31531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3063" marR="63063" marT="31531" marB="31531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86870438"/>
                  </a:ext>
                </a:extLst>
              </a:tr>
            </a:tbl>
          </a:graphicData>
        </a:graphic>
      </p:graphicFrame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485D88A1-85F8-553A-7EED-F35A98520CF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90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06B0-D8A1-18C6-DEBB-E091187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5EE3F470-127D-8724-839F-2FEC700E27D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7EF781AA-09B3-2AE4-3393-FB49449EE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FAAF62-45E8-88A2-B517-7841D24A704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BDD22600-5BF2-5756-C4A5-C101AF431B4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8F9444AE-AF72-AAC7-7A1D-301D1498FB7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DB8E16FB-F10D-7082-E712-25B6F3EF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AD6ECDC-7FF8-D931-6E44-11768B54EFF2}"/>
              </a:ext>
            </a:extLst>
          </p:cNvPr>
          <p:cNvSpPr/>
          <p:nvPr/>
        </p:nvSpPr>
        <p:spPr>
          <a:xfrm>
            <a:off x="2580562" y="-2"/>
            <a:ext cx="61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CO-PO- PSO 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B96A4D-3BC0-AEAE-511A-418D0F5BD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72431"/>
              </p:ext>
            </p:extLst>
          </p:nvPr>
        </p:nvGraphicFramePr>
        <p:xfrm>
          <a:off x="2629665" y="640260"/>
          <a:ext cx="8506336" cy="218363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31646">
                  <a:extLst>
                    <a:ext uri="{9D8B030D-6E8A-4147-A177-3AD203B41FA5}">
                      <a16:colId xmlns:a16="http://schemas.microsoft.com/office/drawing/2014/main" val="250567589"/>
                    </a:ext>
                  </a:extLst>
                </a:gridCol>
                <a:gridCol w="414689">
                  <a:extLst>
                    <a:ext uri="{9D8B030D-6E8A-4147-A177-3AD203B41FA5}">
                      <a16:colId xmlns:a16="http://schemas.microsoft.com/office/drawing/2014/main" val="883476333"/>
                    </a:ext>
                  </a:extLst>
                </a:gridCol>
                <a:gridCol w="648603">
                  <a:extLst>
                    <a:ext uri="{9D8B030D-6E8A-4147-A177-3AD203B41FA5}">
                      <a16:colId xmlns:a16="http://schemas.microsoft.com/office/drawing/2014/main" val="4180036823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2449709864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1547519754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1030776748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564553472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831793248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1500942650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2919309495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3813780322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2282223703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1631532268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3376088464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2750050186"/>
                    </a:ext>
                  </a:extLst>
                </a:gridCol>
                <a:gridCol w="531646">
                  <a:extLst>
                    <a:ext uri="{9D8B030D-6E8A-4147-A177-3AD203B41FA5}">
                      <a16:colId xmlns:a16="http://schemas.microsoft.com/office/drawing/2014/main" val="2276888151"/>
                    </a:ext>
                  </a:extLst>
                </a:gridCol>
              </a:tblGrid>
              <a:tr h="24180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kern="1200" dirty="0"/>
                        <a:t>COs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 gridSpan="1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Program Outcomes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RBT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PSO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54695"/>
                  </a:ext>
                </a:extLst>
              </a:tr>
              <a:tr h="2477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2692626"/>
                  </a:ext>
                </a:extLst>
              </a:tr>
              <a:tr h="2712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CO1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L2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558074158"/>
                  </a:ext>
                </a:extLst>
              </a:tr>
              <a:tr h="2712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L2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530429163"/>
                  </a:ext>
                </a:extLst>
              </a:tr>
              <a:tr h="2712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L3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25036428"/>
                  </a:ext>
                </a:extLst>
              </a:tr>
              <a:tr h="2712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L3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334741586"/>
                  </a:ext>
                </a:extLst>
              </a:tr>
              <a:tr h="2712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6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L3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927193861"/>
                  </a:ext>
                </a:extLst>
              </a:tr>
              <a:tr h="2418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10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600" kern="1200" dirty="0"/>
                        <a:t> 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079369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5E8ED9-8188-E472-F60A-903625AECECC}"/>
              </a:ext>
            </a:extLst>
          </p:cNvPr>
          <p:cNvSpPr txBox="1"/>
          <p:nvPr/>
        </p:nvSpPr>
        <p:spPr>
          <a:xfrm>
            <a:off x="7268458" y="3246834"/>
            <a:ext cx="48550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Engineering Knowledge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PO3: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Design/Development of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PO4: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PO5: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Tool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PO6: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Engineer and 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PO7: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PO8: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Individual &amp; Collaborative Team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PO9: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PO10: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Management and Finance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PO11: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Life-long Learning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5B3EB-541B-06D0-3036-393A2F8D5F1B}"/>
              </a:ext>
            </a:extLst>
          </p:cNvPr>
          <p:cNvSpPr txBox="1"/>
          <p:nvPr/>
        </p:nvSpPr>
        <p:spPr>
          <a:xfrm>
            <a:off x="2495998" y="3204108"/>
            <a:ext cx="46800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/>
              <a:t>Justification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PSO1:</a:t>
            </a:r>
            <a:r>
              <a:rPr lang="en-IN" sz="1600" dirty="0"/>
              <a:t> Mapping emphasizes the application of NoSQL databases in multidisciplinary AI and Data Analytics domains such as healthcare, agriculture, transportation, and smart systems. </a:t>
            </a:r>
          </a:p>
          <a:p>
            <a:pPr algn="just"/>
            <a:endParaRPr lang="en-IN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PSO2:</a:t>
            </a:r>
            <a:r>
              <a:rPr lang="en-IN" sz="1600" dirty="0"/>
              <a:t> Role of NoSQL databases in AI, Machine Learning, and Data Engineering for handling real-world large-scale datasets. </a:t>
            </a:r>
          </a:p>
          <a:p>
            <a:pPr algn="just"/>
            <a:endParaRPr lang="en-IN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PSO3:</a:t>
            </a:r>
            <a:r>
              <a:rPr lang="en-IN" sz="1600" dirty="0"/>
              <a:t> Mapping focuses on computational skills, modern NoSQL tools (MongoDB, Cassandra, Neo4j), and scalable data management, supporting lifelong learning and AI-based solution development.</a:t>
            </a:r>
          </a:p>
        </p:txBody>
      </p: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833D18E9-3526-FF9D-51D8-1796C26FBCF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344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BCB8-3581-1E32-E8B1-E6D7B641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9EB1FF73-8B48-9DF6-3B75-5E20F71AB8E2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8264473-5173-5669-381B-2F71D1397DE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2A458DC-EE60-07D8-96D7-0AFB66F9E1F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107E544C-DFD0-68AA-F530-E24256C530A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1B314A3B-648C-CF25-384C-B8BFC2F5B74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08415A29-AD9E-DEDE-E0E2-68FAF5D6B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E76705F-DD1E-FBD5-6BD2-06A6B8479305}"/>
              </a:ext>
            </a:extLst>
          </p:cNvPr>
          <p:cNvSpPr/>
          <p:nvPr/>
        </p:nvSpPr>
        <p:spPr>
          <a:xfrm>
            <a:off x="2580562" y="-2"/>
            <a:ext cx="61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CO-PO- PSO 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EAF93C-CB2A-8423-35C6-CFDDA59F1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777671"/>
              </p:ext>
            </p:extLst>
          </p:nvPr>
        </p:nvGraphicFramePr>
        <p:xfrm>
          <a:off x="2606370" y="868678"/>
          <a:ext cx="8605980" cy="241945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60598">
                  <a:extLst>
                    <a:ext uri="{9D8B030D-6E8A-4147-A177-3AD203B41FA5}">
                      <a16:colId xmlns:a16="http://schemas.microsoft.com/office/drawing/2014/main" val="3708759336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1146965834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1304640600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683030679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3718511758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1528566787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1697936228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86410807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1698873760"/>
                    </a:ext>
                  </a:extLst>
                </a:gridCol>
                <a:gridCol w="860598">
                  <a:extLst>
                    <a:ext uri="{9D8B030D-6E8A-4147-A177-3AD203B41FA5}">
                      <a16:colId xmlns:a16="http://schemas.microsoft.com/office/drawing/2014/main" val="461652259"/>
                    </a:ext>
                  </a:extLst>
                </a:gridCol>
              </a:tblGrid>
              <a:tr h="328618">
                <a:tc>
                  <a:txBody>
                    <a:bodyPr/>
                    <a:lstStyle/>
                    <a:p>
                      <a:r>
                        <a:rPr lang="en-US" sz="1400" dirty="0"/>
                        <a:t>CO/WK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79914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FF"/>
                          </a:highlight>
                        </a:rPr>
                        <a:t>CO1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722896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FF"/>
                          </a:highlight>
                        </a:rPr>
                        <a:t>CO2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68199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FF"/>
                          </a:highlight>
                        </a:rPr>
                        <a:t>CO3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751407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FF"/>
                          </a:highlight>
                        </a:rPr>
                        <a:t>CO4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21401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FF"/>
                          </a:highlight>
                        </a:rPr>
                        <a:t>CO5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647993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Total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14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33018"/>
                  </a:ext>
                </a:extLst>
              </a:tr>
            </a:tbl>
          </a:graphicData>
        </a:graphic>
      </p:graphicFrame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E2A9351C-93F7-8EF9-9F26-2B6AF09BCD89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14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40B9-A794-3BE2-1E19-EBAC9AAE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F856695-DB84-561D-2F53-427731CC7CB3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8C8BFEA-74A5-5A05-1EBA-F933E6F6C35A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8B899C3-0697-2EC7-4FCB-5CAFFA22950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C4DEA690-34E4-F7F9-46AA-C73F4169F3A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234C5635-F9DD-9B56-E7D3-ED60D7F6059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DAF1A4E4-8FC9-B24F-3080-5F97822A4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B2F6386-ABCC-5A46-A34E-3F77C549E772}"/>
              </a:ext>
            </a:extLst>
          </p:cNvPr>
          <p:cNvSpPr/>
          <p:nvPr/>
        </p:nvSpPr>
        <p:spPr>
          <a:xfrm>
            <a:off x="2580521" y="85335"/>
            <a:ext cx="8492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cs typeface="Times New Roman" panose="02020603050405020304" pitchFamily="18" charset="0"/>
              </a:rPr>
              <a:t>Assessment Pattern	 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3B69B2-EACF-CB95-DC55-0CA2D7455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22158"/>
              </p:ext>
            </p:extLst>
          </p:nvPr>
        </p:nvGraphicFramePr>
        <p:xfrm>
          <a:off x="2600583" y="866138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21362568"/>
                    </a:ext>
                  </a:extLst>
                </a:gridCol>
                <a:gridCol w="2981215">
                  <a:extLst>
                    <a:ext uri="{9D8B030D-6E8A-4147-A177-3AD203B41FA5}">
                      <a16:colId xmlns:a16="http://schemas.microsoft.com/office/drawing/2014/main" val="154380719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4906654"/>
                    </a:ext>
                  </a:extLst>
                </a:gridCol>
                <a:gridCol w="1674785">
                  <a:extLst>
                    <a:ext uri="{9D8B030D-6E8A-4147-A177-3AD203B41FA5}">
                      <a16:colId xmlns:a16="http://schemas.microsoft.com/office/drawing/2014/main" val="3589794648"/>
                    </a:ext>
                  </a:extLst>
                </a:gridCol>
              </a:tblGrid>
              <a:tr h="28120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CIE</a:t>
                      </a:r>
                      <a:endParaRPr lang="en-IN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78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Entity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Marks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2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Internal Evaluation (CIE)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T1,T2 - 40% to 50% &amp;</a:t>
                      </a:r>
                      <a:b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 to 100% of syllabus completion respectively</a:t>
                      </a:r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3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Team Based Mini Project for 100 marks,</a:t>
                      </a:r>
                      <a:b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reduced to the final 25 Marks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15307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Final CIE marks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598726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SEE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22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SEE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of the course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54463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312092"/>
                  </a:ext>
                </a:extLst>
              </a:tr>
            </a:tbl>
          </a:graphicData>
        </a:graphic>
      </p:graphicFrame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2C70290D-2987-FDCC-6D48-F2D5B876926B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384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9A772-735F-79B1-F7B5-66A6A164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90E36981-5579-C9FB-84A6-D3439D7021A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A9C835F-4242-3A96-9004-92B32579680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FEAF3C-E2DA-594E-880A-9ABC63E3CCD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9F4FE26C-FD18-66FF-D2DF-EB7B2B58BCF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69FB7197-9EB4-2E68-9B3B-D5CD43C454F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E5C04A0C-732C-F36A-D04D-1E8DB7562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4773E32-7966-66AE-C711-5DD44B414331}"/>
              </a:ext>
            </a:extLst>
          </p:cNvPr>
          <p:cNvSpPr/>
          <p:nvPr/>
        </p:nvSpPr>
        <p:spPr>
          <a:xfrm>
            <a:off x="2518691" y="189000"/>
            <a:ext cx="8492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Target Setting- Marks, Attainments and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653ABA-2B9B-88B6-3A0E-31B8AC2AE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08587"/>
              </p:ext>
            </p:extLst>
          </p:nvPr>
        </p:nvGraphicFramePr>
        <p:xfrm>
          <a:off x="2591513" y="961380"/>
          <a:ext cx="7750416" cy="10261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875208">
                  <a:extLst>
                    <a:ext uri="{9D8B030D-6E8A-4147-A177-3AD203B41FA5}">
                      <a16:colId xmlns:a16="http://schemas.microsoft.com/office/drawing/2014/main" val="93192435"/>
                    </a:ext>
                  </a:extLst>
                </a:gridCol>
                <a:gridCol w="3875208">
                  <a:extLst>
                    <a:ext uri="{9D8B030D-6E8A-4147-A177-3AD203B41FA5}">
                      <a16:colId xmlns:a16="http://schemas.microsoft.com/office/drawing/2014/main" val="3847086767"/>
                    </a:ext>
                  </a:extLst>
                </a:gridCol>
              </a:tblGrid>
              <a:tr h="513090">
                <a:tc>
                  <a:txBody>
                    <a:bodyPr/>
                    <a:lstStyle/>
                    <a:p>
                      <a:r>
                        <a:rPr lang="en-US" dirty="0"/>
                        <a:t>Previous Result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for current 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242466"/>
                  </a:ext>
                </a:extLst>
              </a:tr>
              <a:tr h="51309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 and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9322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4AD1B9-BE07-871A-76A8-4F9DAA62B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02256"/>
              </p:ext>
            </p:extLst>
          </p:nvPr>
        </p:nvGraphicFramePr>
        <p:xfrm>
          <a:off x="2619251" y="3496346"/>
          <a:ext cx="6356749" cy="16459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4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429">
                <a:tc>
                  <a:txBody>
                    <a:bodyPr/>
                    <a:lstStyle/>
                    <a:p>
                      <a:r>
                        <a:rPr lang="en-US" dirty="0"/>
                        <a:t>COs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146">
                <a:tc>
                  <a:txBody>
                    <a:bodyPr/>
                    <a:lstStyle/>
                    <a:p>
                      <a:r>
                        <a:rPr lang="en-US" dirty="0"/>
                        <a:t>Target Marks 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146">
                <a:tc>
                  <a:txBody>
                    <a:bodyPr/>
                    <a:lstStyle/>
                    <a:p>
                      <a:r>
                        <a:rPr lang="en-US" dirty="0"/>
                        <a:t>Attainment 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F4EBE047-0888-A1AF-867E-BAD8A0D1229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0251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CE551B0-7FFF-465F-411B-093558FD67B8}"/>
              </a:ext>
            </a:extLst>
          </p:cNvPr>
          <p:cNvSpPr/>
          <p:nvPr/>
        </p:nvSpPr>
        <p:spPr>
          <a:xfrm>
            <a:off x="2629665" y="909000"/>
            <a:ext cx="849287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cs typeface="Times New Roman" panose="02020603050405020304" pitchFamily="18" charset="0"/>
              </a:rPr>
              <a:t>Mechanism for slow and fast learners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Fast Learners: LinkedIn Learning basics of SQL databases after IA1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Slow Learners: Written Assignments on Old QP’s IA1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9067762A-110B-7092-388F-ECF8B67800E1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235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706635" y="441148"/>
            <a:ext cx="849287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BEST PRACTICES IN TLP</a:t>
            </a:r>
            <a:endParaRPr dirty="0"/>
          </a:p>
          <a:p>
            <a:pPr marL="342900" marR="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342900" marR="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Planned to conduct full stack workshop Session after the completion of Module 1 and 5 to develop a application with google firebase NoSQL database.</a:t>
            </a:r>
            <a:endParaRPr dirty="0"/>
          </a:p>
          <a:p>
            <a:pPr marL="342900" marR="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To provide Hands-On session to students on </a:t>
            </a:r>
            <a:r>
              <a:rPr lang="en-IN" sz="16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NoSQL Cloud Tools in class</a:t>
            </a:r>
            <a:endParaRPr sz="1600" b="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7" name="Google Shape;217;p11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218" name="Google Shape;218;p11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0" name="Google Shape;220;p11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6ECC1E75-A507-DE90-CA7B-257AF8F43F5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0837-5D3E-8AF6-50CF-5B22F3E5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1E2A4B0-ED47-A1AD-5CDF-C582D011FA46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79DF19FB-1200-C725-67A2-2B22E495FDC1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568362A-27F6-70E0-752E-06B8ABFE98F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58AB9EF8-851A-DF62-F88D-11686CF7C21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4B222099-2EDF-C273-2B3B-85F83E472E2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>
              <a:extLst>
                <a:ext uri="{FF2B5EF4-FFF2-40B4-BE49-F238E27FC236}">
                  <a16:creationId xmlns:a16="http://schemas.microsoft.com/office/drawing/2014/main" id="{6876977E-1319-1E89-D3AA-F3CEE9CB4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B9818F59-A3C6-A313-1C3F-1B2730E9F3D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C51A3437-2621-19A7-CEC5-458C3D52B77E}"/>
              </a:ext>
            </a:extLst>
          </p:cNvPr>
          <p:cNvSpPr txBox="1"/>
          <p:nvPr/>
        </p:nvSpPr>
        <p:spPr>
          <a:xfrm>
            <a:off x="5201084" y="2519462"/>
            <a:ext cx="353929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84917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1220</Words>
  <Application>Microsoft Office PowerPoint</Application>
  <PresentationFormat>Widescreen</PresentationFormat>
  <Paragraphs>327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Futura Cyrillic Book</vt:lpstr>
      <vt:lpstr>Segoe UI Symbol</vt:lpstr>
      <vt:lpstr>Times New Roman</vt:lpstr>
      <vt:lpstr>Wingdings</vt:lpstr>
      <vt:lpstr>1_Custom Design</vt:lpstr>
      <vt:lpstr>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Hi</cp:lastModifiedBy>
  <cp:revision>248</cp:revision>
  <dcterms:created xsi:type="dcterms:W3CDTF">2021-09-07T04:22:00Z</dcterms:created>
  <dcterms:modified xsi:type="dcterms:W3CDTF">2026-08-11T06:53:58Z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